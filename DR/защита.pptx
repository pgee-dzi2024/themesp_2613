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35" r:id="rId1"/>
  </p:sldMasterIdLst>
  <p:notesMasterIdLst>
    <p:notesMasterId r:id="rId15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9144000"/>
  <p:defaultTextStyle>
    <a:defPPr>
      <a:defRPr lang="bg-B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62178" autoAdjust="0"/>
  </p:normalViewPr>
  <p:slideViewPr>
    <p:cSldViewPr snapToGrid="0">
      <p:cViewPr varScale="1">
        <p:scale>
          <a:sx n="67" d="100"/>
          <a:sy n="67" d="100"/>
        </p:scale>
        <p:origin x="215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D87C98-C836-4DCD-9292-B24B0D0B6832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6C144B-D339-4822-8841-68B5F0331A66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8119524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6000" dirty="0" smtClean="0"/>
              <a:t>Уважаема г-жа Директор,</a:t>
            </a:r>
            <a:r>
              <a:rPr lang="bg-BG" sz="6000" baseline="0" dirty="0" smtClean="0"/>
              <a:t> Уважаема комисия. Аз съм Йордан Минков. 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6000" baseline="0" dirty="0" smtClean="0"/>
              <a:t>Темата на моя дипломен проект е „</a:t>
            </a:r>
            <a:r>
              <a:rPr lang="bg-BG" sz="60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Дистанционно управлявана „Робо‑платформа“ през Уеб“.</a:t>
            </a:r>
          </a:p>
          <a:p>
            <a:endParaRPr lang="bg-BG" sz="4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6C144B-D339-4822-8841-68B5F0331A66}" type="slidenum">
              <a:rPr lang="bg-BG" smtClean="0"/>
              <a:t>1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351222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Основната цел е създаването на мобилен робот, 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който се управлява дистанционно чрез уеб интерфейс от смартфон или компютър. 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Проектът цели да направи управлението на роботизирани системи 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по-достъпно чрез използването на стандартни потребителски устройства.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6C144B-D339-4822-8841-68B5F0331A66}" type="slidenum">
              <a:rPr lang="bg-BG" smtClean="0"/>
              <a:t>2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7697857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Задачите включват проектиране на стабилно шаси, 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изграждане на надеждна енергийна система и програмиране на микроконтролерно управление.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Паралелно с това се разработва сървърна част за безжична комуникация и визуализация.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6C144B-D339-4822-8841-68B5F0331A66}" type="slidenum">
              <a:rPr lang="bg-BG" smtClean="0"/>
              <a:t>3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5966769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Платформата е изградена върху стабилно шаси, задвижвано от четири независими DC двигателя. 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Тази конфигурация осигурява висока маневреност и проходимост на мобилния робот в затворени пространства.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6C144B-D339-4822-8841-68B5F0331A66}" type="slidenum">
              <a:rPr lang="bg-BG" smtClean="0"/>
              <a:t>4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5948595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Захранването е реализирано чрез висококапацитетни литиево-йонни (Li-ion) батерии, 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гарантиращи дълга автономна работа. Системата включва модули за стабилизация на напрежението и защита на компонентите.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6C144B-D339-4822-8841-68B5F0331A66}" type="slidenum">
              <a:rPr lang="bg-BG" smtClean="0"/>
              <a:t>5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5632726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„Сърцето“ на хардуерната част е микроконтролер Arduino, 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който получава командите и управлява посоката и скоростта на двигателите. 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Програмирането му е оптимизирано за бърза обработка на сигналите в реално време.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6C144B-D339-4822-8841-68B5F0331A66}" type="slidenum">
              <a:rPr lang="bg-BG" smtClean="0"/>
              <a:t>6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26830219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Връзката между управляващото устройство и робота се осъществява чрез Bluetooth технология. </a:t>
            </a:r>
          </a:p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Това осигурява стабилен безжичен канал за предаване на данни без нужда от сложна мрежова инфраструктура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6C144B-D339-4822-8841-68B5F0331A66}" type="slidenum">
              <a:rPr lang="bg-BG" smtClean="0"/>
              <a:t>7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9735100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Разработено е мощно сървърно приложение, използващо софтуерната рамка Django.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То служи като мост между потребителския уеб браузър и Bluetooth комуникацията към робота.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6C144B-D339-4822-8841-68B5F0331A66}" type="slidenum">
              <a:rPr lang="bg-BG" smtClean="0"/>
              <a:t>8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167714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Създаден е интуитивен графичен интерфейс, достъпен през всеки съвременен уеб браузър.</a:t>
            </a:r>
          </a:p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Потребителят може да контролира движението на платформата чрез виртуални бутони в реално време.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6C144B-D339-4822-8841-68B5F0331A66}" type="slidenum">
              <a:rPr lang="bg-BG" smtClean="0"/>
              <a:t>9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06717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Системата работи чрез приемане на HTTP заявки от браузъра,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които сървърът преобразува в команди и изпраща към Bluetooth модула на робота.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Arduino интерпретира тези команди и активира съответните задвижващи механизми.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6C144B-D339-4822-8841-68B5F0331A66}" type="slidenum">
              <a:rPr lang="bg-BG" smtClean="0"/>
              <a:t>10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84502641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Проведените тестове потвърждават високата надеждност на системата и ниското времезакъснение при изпълнение на командите.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Оценени са стабилността на връзката и издръжливостта на захранващия блок при натоварване.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6C144B-D339-4822-8841-68B5F0331A66}" type="slidenum">
              <a:rPr lang="bg-BG" smtClean="0"/>
              <a:t>11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3593200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Проектът успешно демонстрира синергията между хардуерно проектиране и уеб технологии за дистанционно управление.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Постигнатите резултати полагат основа за бъдещи подобрения като добавяне на сензори и видео стрийминг.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6C144B-D339-4822-8841-68B5F0331A66}" type="slidenum">
              <a:rPr lang="bg-BG" smtClean="0"/>
              <a:t>12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06340742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Разработената платформа е пример за това как бъдещето на управлението и автоматизацията все повече се свързва с уеб технологиите.</a:t>
            </a:r>
          </a:p>
          <a:p>
            <a:r>
              <a:rPr lang="ru-RU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Благодаря ви за вниманието и ще се радвам да обсъдим въпроси по проекта.“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6C144B-D339-4822-8841-68B5F0331A66}" type="slidenum">
              <a:rPr lang="bg-BG" smtClean="0"/>
              <a:t>13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4643642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9087118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4096604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8030040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948698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7462486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7510982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1605617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1823826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2931110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888707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44893935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02034542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68997219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8040668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47237932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8597419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870613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4629126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36" r:id="rId1"/>
    <p:sldLayoutId id="2147483937" r:id="rId2"/>
    <p:sldLayoutId id="2147483938" r:id="rId3"/>
    <p:sldLayoutId id="2147483939" r:id="rId4"/>
    <p:sldLayoutId id="2147483940" r:id="rId5"/>
    <p:sldLayoutId id="2147483941" r:id="rId6"/>
    <p:sldLayoutId id="2147483942" r:id="rId7"/>
    <p:sldLayoutId id="2147483943" r:id="rId8"/>
    <p:sldLayoutId id="2147483944" r:id="rId9"/>
    <p:sldLayoutId id="2147483945" r:id="rId10"/>
    <p:sldLayoutId id="2147483946" r:id="rId11"/>
    <p:sldLayoutId id="2147483947" r:id="rId12"/>
    <p:sldLayoutId id="2147483948" r:id="rId13"/>
    <p:sldLayoutId id="2147483949" r:id="rId14"/>
    <p:sldLayoutId id="2147483950" r:id="rId15"/>
    <p:sldLayoutId id="2147483951" r:id="rId16"/>
    <p:sldLayoutId id="2147483952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5054287" y="618564"/>
            <a:ext cx="3723462" cy="1451629"/>
          </a:xfrm>
        </p:spPr>
        <p:txBody>
          <a:bodyPr>
            <a:normAutofit/>
          </a:bodyPr>
          <a:lstStyle/>
          <a:p>
            <a:endParaRPr lang="bg-BG" sz="2400" dirty="0"/>
          </a:p>
        </p:txBody>
      </p:sp>
      <p:sp>
        <p:nvSpPr>
          <p:cNvPr id="15" name="Content Placeholder 1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bg-BG" dirty="0"/>
          </a:p>
        </p:txBody>
      </p:sp>
      <p:sp>
        <p:nvSpPr>
          <p:cNvPr id="7" name="TextBox 6"/>
          <p:cNvSpPr txBox="1"/>
          <p:nvPr/>
        </p:nvSpPr>
        <p:spPr>
          <a:xfrm>
            <a:off x="2554941" y="313326"/>
            <a:ext cx="874058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2800" b="1" dirty="0"/>
              <a:t>Държавен изпит за придобиване на трета степен на професионална квалификация – част по теория на професията</a:t>
            </a:r>
            <a:r>
              <a:rPr lang="bg-BG" sz="2800" dirty="0"/>
              <a:t/>
            </a:r>
            <a:br>
              <a:rPr lang="bg-BG" sz="2800" dirty="0"/>
            </a:br>
            <a:endParaRPr lang="bg-BG" sz="2800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57316" y="313326"/>
            <a:ext cx="3810868" cy="127028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372601" y="5663044"/>
            <a:ext cx="292697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2000" dirty="0"/>
              <a:t>Дипломант</a:t>
            </a:r>
            <a:r>
              <a:rPr lang="bg-BG" sz="2000" dirty="0" smtClean="0"/>
              <a:t>:</a:t>
            </a:r>
          </a:p>
          <a:p>
            <a:endParaRPr lang="bg-BG" sz="2000" dirty="0"/>
          </a:p>
          <a:p>
            <a:r>
              <a:rPr lang="bg-BG" sz="2000" dirty="0"/>
              <a:t>Йордан Минков</a:t>
            </a:r>
          </a:p>
        </p:txBody>
      </p:sp>
    </p:spTree>
    <p:extLst>
      <p:ext uri="{BB962C8B-B14F-4D97-AF65-F5344CB8AC3E}">
        <p14:creationId xmlns:p14="http://schemas.microsoft.com/office/powerpoint/2010/main" val="18771292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b="1" dirty="0"/>
              <a:t>Цел на проекта</a:t>
            </a:r>
            <a:endParaRPr lang="bg-BG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</p:spPr>
      </p:pic>
      <p:sp>
        <p:nvSpPr>
          <p:cNvPr id="5" name="TextBox 4"/>
          <p:cNvSpPr txBox="1"/>
          <p:nvPr/>
        </p:nvSpPr>
        <p:spPr>
          <a:xfrm>
            <a:off x="1141414" y="618518"/>
            <a:ext cx="47483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4800" dirty="0" smtClean="0"/>
              <a:t>Цел на проекта</a:t>
            </a:r>
            <a:endParaRPr lang="bg-BG" sz="4800" dirty="0"/>
          </a:p>
        </p:txBody>
      </p:sp>
      <p:sp>
        <p:nvSpPr>
          <p:cNvPr id="3" name="TextBox 2"/>
          <p:cNvSpPr txBox="1"/>
          <p:nvPr/>
        </p:nvSpPr>
        <p:spPr>
          <a:xfrm>
            <a:off x="7279061" y="5123283"/>
            <a:ext cx="645617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ctr">
              <a:buFont typeface="Wingdings" panose="05000000000000000000" pitchFamily="2" charset="2"/>
              <a:buChar char="ü"/>
            </a:pPr>
            <a:r>
              <a:rPr lang="ru-RU" sz="2800" b="1" dirty="0"/>
              <a:t>Автоматизация:</a:t>
            </a:r>
            <a:r>
              <a:rPr lang="ru-RU" sz="2800" dirty="0"/>
              <a:t> </a:t>
            </a:r>
            <a:endParaRPr lang="ru-RU" sz="2800" dirty="0" smtClean="0"/>
          </a:p>
          <a:p>
            <a:pPr marL="457200" indent="-457200" algn="ctr">
              <a:buFont typeface="Wingdings" panose="05000000000000000000" pitchFamily="2" charset="2"/>
              <a:buChar char="ü"/>
            </a:pPr>
            <a:r>
              <a:rPr lang="ru-RU" sz="2800" b="1" dirty="0" smtClean="0"/>
              <a:t>Стабилност</a:t>
            </a:r>
            <a:r>
              <a:rPr lang="ru-RU" sz="2800" b="1" dirty="0"/>
              <a:t>:</a:t>
            </a:r>
            <a:r>
              <a:rPr lang="ru-RU" sz="2800" dirty="0"/>
              <a:t> </a:t>
            </a:r>
            <a:endParaRPr lang="ru-RU" sz="2800" dirty="0" smtClean="0"/>
          </a:p>
          <a:p>
            <a:pPr marL="457200" indent="-457200" algn="ctr">
              <a:buFont typeface="Wingdings" panose="05000000000000000000" pitchFamily="2" charset="2"/>
              <a:buChar char="ü"/>
            </a:pPr>
            <a:r>
              <a:rPr lang="ru-RU" sz="2800" b="1" dirty="0" smtClean="0"/>
              <a:t>Интеграция</a:t>
            </a:r>
            <a:r>
              <a:rPr lang="ru-RU" sz="2800" b="1" dirty="0"/>
              <a:t>:</a:t>
            </a:r>
            <a:r>
              <a:rPr lang="ru-RU" sz="2800" dirty="0"/>
              <a:t> </a:t>
            </a:r>
          </a:p>
        </p:txBody>
      </p:sp>
    </p:spTree>
    <p:extLst>
      <p:ext uri="{BB962C8B-B14F-4D97-AF65-F5344CB8AC3E}">
        <p14:creationId xmlns:p14="http://schemas.microsoft.com/office/powerpoint/2010/main" val="41877800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b="1" dirty="0"/>
              <a:t>Основни задачи</a:t>
            </a:r>
            <a:endParaRPr lang="bg-BG" dirty="0"/>
          </a:p>
        </p:txBody>
      </p:sp>
      <p:pic>
        <p:nvPicPr>
          <p:cNvPr id="10" name="Content Placeholder 9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9200" y="1667435"/>
            <a:ext cx="7261412" cy="4254079"/>
          </a:xfr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161364"/>
            <a:ext cx="13346205" cy="71941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24435" y="799227"/>
            <a:ext cx="824304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4800" b="1" dirty="0"/>
              <a:t>Основни задачи</a:t>
            </a:r>
            <a:endParaRPr lang="bg-BG" sz="4800" dirty="0"/>
          </a:p>
        </p:txBody>
      </p:sp>
      <p:sp>
        <p:nvSpPr>
          <p:cNvPr id="3" name="TextBox 2"/>
          <p:cNvSpPr txBox="1"/>
          <p:nvPr/>
        </p:nvSpPr>
        <p:spPr>
          <a:xfrm>
            <a:off x="524436" y="3429000"/>
            <a:ext cx="9493624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ru-RU" sz="2800" b="1" dirty="0"/>
              <a:t>Анализ и подбор на хардуерни компоненти и сензори.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ru-RU" sz="2800" b="1" dirty="0"/>
              <a:t>Проектиране и сглобяване на механичното шаси.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ru-RU" sz="2800" b="1" dirty="0"/>
              <a:t>Разработка на софтуерен алгоритъм за управление на движението.</a:t>
            </a:r>
          </a:p>
        </p:txBody>
      </p:sp>
    </p:spTree>
    <p:extLst>
      <p:ext uri="{BB962C8B-B14F-4D97-AF65-F5344CB8AC3E}">
        <p14:creationId xmlns:p14="http://schemas.microsoft.com/office/powerpoint/2010/main" val="38993700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 flipH="1">
            <a:off x="-4808669" y="1856856"/>
            <a:ext cx="115645" cy="240232"/>
          </a:xfrm>
        </p:spPr>
        <p:txBody>
          <a:bodyPr>
            <a:normAutofit fontScale="90000"/>
          </a:bodyPr>
          <a:lstStyle/>
          <a:p>
            <a:r>
              <a:rPr lang="bg-BG" dirty="0"/>
              <a:t/>
            </a:r>
            <a:br>
              <a:rPr lang="bg-BG" dirty="0"/>
            </a:br>
            <a:endParaRPr lang="bg-BG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02062" cy="6858000"/>
          </a:xfrm>
        </p:spPr>
      </p:pic>
      <p:sp>
        <p:nvSpPr>
          <p:cNvPr id="5" name="TextBox 4"/>
          <p:cNvSpPr txBox="1"/>
          <p:nvPr/>
        </p:nvSpPr>
        <p:spPr>
          <a:xfrm>
            <a:off x="1788459" y="995082"/>
            <a:ext cx="892884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3200" b="1" cap="all" dirty="0">
                <a:solidFill>
                  <a:prstClr val="white"/>
                </a:solidFill>
                <a:ea typeface="+mj-ea"/>
                <a:cs typeface="+mj-cs"/>
              </a:rPr>
              <a:t>Хардуерна конфигурация и Шаси</a:t>
            </a:r>
            <a:r>
              <a:rPr lang="bg-BG" sz="3200" cap="all" dirty="0">
                <a:solidFill>
                  <a:prstClr val="white"/>
                </a:solidFill>
                <a:ea typeface="+mj-ea"/>
                <a:cs typeface="+mj-cs"/>
              </a:rPr>
              <a:t/>
            </a:r>
            <a:br>
              <a:rPr lang="bg-BG" sz="3200" cap="all" dirty="0">
                <a:solidFill>
                  <a:prstClr val="white"/>
                </a:solidFill>
                <a:ea typeface="+mj-ea"/>
                <a:cs typeface="+mj-cs"/>
              </a:rPr>
            </a:br>
            <a:endParaRPr lang="bg-BG" dirty="0"/>
          </a:p>
        </p:txBody>
      </p:sp>
      <p:sp>
        <p:nvSpPr>
          <p:cNvPr id="10" name="TextBox 9"/>
          <p:cNvSpPr txBox="1"/>
          <p:nvPr/>
        </p:nvSpPr>
        <p:spPr>
          <a:xfrm>
            <a:off x="1559859" y="1943997"/>
            <a:ext cx="371138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ü"/>
            </a:pPr>
            <a:r>
              <a:rPr lang="ru-RU" sz="2800" dirty="0" smtClean="0"/>
              <a:t> Шаси:</a:t>
            </a:r>
          </a:p>
          <a:p>
            <a:pPr marL="457200" indent="-457200">
              <a:buFont typeface="Wingdings" panose="05000000000000000000" pitchFamily="2" charset="2"/>
              <a:buChar char="ü"/>
            </a:pPr>
            <a:r>
              <a:rPr lang="ru-RU" sz="2800" dirty="0" smtClean="0"/>
              <a:t> Задвижване:</a:t>
            </a:r>
          </a:p>
          <a:p>
            <a:pPr marL="457200" indent="-457200">
              <a:buFont typeface="Wingdings" panose="05000000000000000000" pitchFamily="2" charset="2"/>
              <a:buChar char="ü"/>
            </a:pPr>
            <a:r>
              <a:rPr lang="ru-RU" sz="2800" dirty="0" smtClean="0"/>
              <a:t> Управление:</a:t>
            </a:r>
            <a:endParaRPr lang="ru-RU" sz="2800" dirty="0"/>
          </a:p>
          <a:p>
            <a:pPr marL="457200" indent="-457200">
              <a:buFont typeface="Wingdings" panose="05000000000000000000" pitchFamily="2" charset="2"/>
              <a:buChar char="ü"/>
            </a:pPr>
            <a:r>
              <a:rPr lang="ru-RU" sz="2800" dirty="0" smtClean="0"/>
              <a:t> Дизайн: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39794856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9165" y="618518"/>
            <a:ext cx="5628246" cy="1478570"/>
          </a:xfrm>
        </p:spPr>
        <p:txBody>
          <a:bodyPr/>
          <a:lstStyle/>
          <a:p>
            <a:r>
              <a:rPr lang="bg-BG" b="1" dirty="0"/>
              <a:t>Енергийна система</a:t>
            </a:r>
            <a:endParaRPr lang="bg-BG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6894"/>
            <a:ext cx="12192000" cy="7126941"/>
          </a:xfrm>
        </p:spPr>
      </p:pic>
    </p:spTree>
    <p:extLst>
      <p:ext uri="{BB962C8B-B14F-4D97-AF65-F5344CB8AC3E}">
        <p14:creationId xmlns:p14="http://schemas.microsoft.com/office/powerpoint/2010/main" val="8772166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</p:spPr>
      </p:pic>
    </p:spTree>
    <p:extLst>
      <p:ext uri="{BB962C8B-B14F-4D97-AF65-F5344CB8AC3E}">
        <p14:creationId xmlns:p14="http://schemas.microsoft.com/office/powerpoint/2010/main" val="35799636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287251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1392" y="189893"/>
            <a:ext cx="9905998" cy="710220"/>
          </a:xfrm>
        </p:spPr>
        <p:txBody>
          <a:bodyPr/>
          <a:lstStyle/>
          <a:p>
            <a:pPr algn="ctr"/>
            <a:r>
              <a:rPr lang="bg-BG" b="1" dirty="0">
                <a:solidFill>
                  <a:schemeClr val="bg1"/>
                </a:solidFill>
              </a:rPr>
              <a:t>Комуникационен интерфейс</a:t>
            </a:r>
            <a:endParaRPr lang="bg-BG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51654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b="1" dirty="0"/>
              <a:t>Сървърно приложение (Django)</a:t>
            </a:r>
            <a:r>
              <a:rPr lang="bg-BG" dirty="0"/>
              <a:t/>
            </a:r>
            <a:br>
              <a:rPr lang="bg-BG" dirty="0"/>
            </a:b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36032698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b="1" dirty="0"/>
              <a:t>Потребителски уеб интерфейс</a:t>
            </a:r>
            <a:r>
              <a:rPr lang="bg-BG" dirty="0"/>
              <a:t/>
            </a:r>
            <a:br>
              <a:rPr lang="bg-BG" dirty="0"/>
            </a:b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6074408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b="1" dirty="0"/>
              <a:t>Алгоритъм на работа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7211490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b="1" dirty="0"/>
              <a:t>Тестове и резултати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8599004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b="1" dirty="0"/>
              <a:t>: Заключение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4657397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bg-BG" sz="4400" dirty="0"/>
              <a:t>Благодаря за вниманието</a:t>
            </a:r>
          </a:p>
        </p:txBody>
      </p:sp>
    </p:spTree>
    <p:extLst>
      <p:ext uri="{BB962C8B-B14F-4D97-AF65-F5344CB8AC3E}">
        <p14:creationId xmlns:p14="http://schemas.microsoft.com/office/powerpoint/2010/main" val="277076931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Circuit</Template>
  <TotalTime>1584</TotalTime>
  <Words>482</Words>
  <Application>Microsoft Office PowerPoint</Application>
  <PresentationFormat>Widescreen</PresentationFormat>
  <Paragraphs>72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Calibri</vt:lpstr>
      <vt:lpstr>Trebuchet MS</vt:lpstr>
      <vt:lpstr>Tw Cen MT</vt:lpstr>
      <vt:lpstr>Wingdings</vt:lpstr>
      <vt:lpstr>Circuit</vt:lpstr>
      <vt:lpstr>PowerPoint Presentation</vt:lpstr>
      <vt:lpstr>Цел на проекта</vt:lpstr>
      <vt:lpstr>Основни задачи</vt:lpstr>
      <vt:lpstr> </vt:lpstr>
      <vt:lpstr>Енергийна система</vt:lpstr>
      <vt:lpstr>PowerPoint Presentation</vt:lpstr>
      <vt:lpstr>Комуникационен интерфейс</vt:lpstr>
      <vt:lpstr>Сървърно приложение (Django) </vt:lpstr>
      <vt:lpstr>Потребителски уеб интерфейс </vt:lpstr>
      <vt:lpstr>Алгоритъм на работа</vt:lpstr>
      <vt:lpstr>Тестове и резултати</vt:lpstr>
      <vt:lpstr>: Заключение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Georgi Borikov</cp:lastModifiedBy>
  <cp:revision>23</cp:revision>
  <dcterms:created xsi:type="dcterms:W3CDTF">2026-04-27T09:07:25Z</dcterms:created>
  <dcterms:modified xsi:type="dcterms:W3CDTF">2026-05-07T07:08:28Z</dcterms:modified>
</cp:coreProperties>
</file>